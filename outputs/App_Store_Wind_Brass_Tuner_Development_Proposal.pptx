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74758549f34e5a" /><Relationship Type="http://schemas.openxmlformats.org/officeDocument/2006/relationships/extended-properties" Target="/docProps/app.xml" Id="R9dc7eea5de014904" /><Relationship Type="http://schemas.openxmlformats.org/officeDocument/2006/relationships/officeDocument" Target="/ppt/presentation.xml" Id="Ref4533dcf1c846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e04d2c179543ea"/>
  </p:sldMasterIdLst>
  <p:notesMasterIdLst>
    <p:notesMasterId xmlns:r="http://schemas.openxmlformats.org/officeDocument/2006/relationships" r:id="R96a717c4f2e74af0"/>
  </p:notesMasterIdLst>
  <p:sldIdLst>
    <p:sldId xmlns:r="http://schemas.openxmlformats.org/officeDocument/2006/relationships" id="256" r:id="Raede9400ac7c4642"/>
    <p:sldId xmlns:r="http://schemas.openxmlformats.org/officeDocument/2006/relationships" id="257" r:id="R9e64dfc2ddf74f07"/>
    <p:sldId xmlns:r="http://schemas.openxmlformats.org/officeDocument/2006/relationships" id="258" r:id="R22693bd30b7e44f0"/>
    <p:sldId xmlns:r="http://schemas.openxmlformats.org/officeDocument/2006/relationships" id="259" r:id="R846f985968e74b2e"/>
    <p:sldId xmlns:r="http://schemas.openxmlformats.org/officeDocument/2006/relationships" id="260" r:id="R3efe3fa38fcd4a91"/>
    <p:sldId xmlns:r="http://schemas.openxmlformats.org/officeDocument/2006/relationships" id="261" r:id="Rb6f20f47a2884971"/>
    <p:sldId xmlns:r="http://schemas.openxmlformats.org/officeDocument/2006/relationships" id="262" r:id="R3c67fc0359454222"/>
    <p:sldId xmlns:r="http://schemas.openxmlformats.org/officeDocument/2006/relationships" id="263" r:id="R76f0ca55b13b4af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982035358f412f" /><Relationship Type="http://schemas.openxmlformats.org/officeDocument/2006/relationships/slideMaster" Target="/ppt/slideMasters/slideMaster1.xml" Id="Rd2e04d2c179543ea" /><Relationship Type="http://schemas.openxmlformats.org/officeDocument/2006/relationships/notesMaster" Target="/ppt/notesMasters/notesMaster1.xml" Id="R96a717c4f2e74af0" /><Relationship Type="http://schemas.openxmlformats.org/officeDocument/2006/relationships/presProps" Target="/ppt/presProps.xml" Id="R06122876974b4eb4" /><Relationship Type="http://schemas.openxmlformats.org/officeDocument/2006/relationships/tableStyles" Target="/ppt/tableStyles.xml" Id="R924888ea06cb4f5e" /><Relationship Type="http://schemas.openxmlformats.org/officeDocument/2006/relationships/slide" Target="/ppt/slides/slide1.xml" Id="Raede9400ac7c4642" /><Relationship Type="http://schemas.openxmlformats.org/officeDocument/2006/relationships/slide" Target="/ppt/slides/slide2.xml" Id="R9e64dfc2ddf74f07" /><Relationship Type="http://schemas.openxmlformats.org/officeDocument/2006/relationships/slide" Target="/ppt/slides/slide3.xml" Id="R22693bd30b7e44f0" /><Relationship Type="http://schemas.openxmlformats.org/officeDocument/2006/relationships/slide" Target="/ppt/slides/slide4.xml" Id="R846f985968e74b2e" /><Relationship Type="http://schemas.openxmlformats.org/officeDocument/2006/relationships/slide" Target="/ppt/slides/slide5.xml" Id="R3efe3fa38fcd4a91" /><Relationship Type="http://schemas.openxmlformats.org/officeDocument/2006/relationships/slide" Target="/ppt/slides/slide6.xml" Id="Rb6f20f47a2884971" /><Relationship Type="http://schemas.openxmlformats.org/officeDocument/2006/relationships/slide" Target="/ppt/slides/slide7.xml" Id="R3c67fc0359454222" /><Relationship Type="http://schemas.openxmlformats.org/officeDocument/2006/relationships/slide" Target="/ppt/slides/slide8.xml" Id="R76f0ca55b13b4a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85242164094a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2ce8df620447bb" /><Relationship Type="http://schemas.openxmlformats.org/officeDocument/2006/relationships/notesMaster" Target="/ppt/notesMasters/notesMaster1.xml" Id="R4d47098cdaf24e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831c724df544cd" /><Relationship Type="http://schemas.openxmlformats.org/officeDocument/2006/relationships/notesMaster" Target="/ppt/notesMasters/notesMaster1.xml" Id="Rb0dc88a7e6124f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33396aa265455e" /><Relationship Type="http://schemas.openxmlformats.org/officeDocument/2006/relationships/notesMaster" Target="/ppt/notesMasters/notesMaster1.xml" Id="Rbd1154598a1647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e07af1661d4d0d" /><Relationship Type="http://schemas.openxmlformats.org/officeDocument/2006/relationships/notesMaster" Target="/ppt/notesMasters/notesMaster1.xml" Id="R2595c557410547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692591ea0f42c9" /><Relationship Type="http://schemas.openxmlformats.org/officeDocument/2006/relationships/notesMaster" Target="/ppt/notesMasters/notesMaster1.xml" Id="Rd137fda8104b4b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8a3e1edec34b0f" /><Relationship Type="http://schemas.openxmlformats.org/officeDocument/2006/relationships/notesMaster" Target="/ppt/notesMasters/notesMaster1.xml" Id="R8825bbb670c249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d1cb6205e244d0" /><Relationship Type="http://schemas.openxmlformats.org/officeDocument/2006/relationships/notesMaster" Target="/ppt/notesMasters/notesMaster1.xml" Id="R3f8dfb9a9bdc41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a56439f08e4e4b" /><Relationship Type="http://schemas.openxmlformats.org/officeDocument/2006/relationships/notesMaster" Target="/ppt/notesMasters/notesMaster1.xml" Id="R2c50c86fdafa42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5aa636a55548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b7b5441c99450c" /><Relationship Type="http://schemas.openxmlformats.org/officeDocument/2006/relationships/slideLayout" Target="/ppt/slideLayouts/slideLayout1.xml" Id="R5b4a11a1a75c48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4a11a1a75c48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9d9ab22814453" /><Relationship Type="http://schemas.openxmlformats.org/officeDocument/2006/relationships/image" Target="/ppt/media/image.png" Id="Rb1e08b1b1080496b" /><Relationship Type="http://schemas.openxmlformats.org/officeDocument/2006/relationships/notesSlide" Target="/ppt/notesSlides/notesSlide1.xml" Id="Rd9dfa83091c948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266dbdd8d4a62" /><Relationship Type="http://schemas.openxmlformats.org/officeDocument/2006/relationships/notesSlide" Target="/ppt/notesSlides/notesSlide2.xml" Id="R85e497b83dd145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e1e48d8604771" /><Relationship Type="http://schemas.openxmlformats.org/officeDocument/2006/relationships/notesSlide" Target="/ppt/notesSlides/notesSlide3.xml" Id="R96df6065d8ad40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8401f8a59d4cfe" /><Relationship Type="http://schemas.openxmlformats.org/officeDocument/2006/relationships/notesSlide" Target="/ppt/notesSlides/notesSlide4.xml" Id="R9cb428e4bfb045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a24db9b27c4494" /><Relationship Type="http://schemas.openxmlformats.org/officeDocument/2006/relationships/notesSlide" Target="/ppt/notesSlides/notesSlide5.xml" Id="R1bac7ce0433146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e06af492694393" /><Relationship Type="http://schemas.openxmlformats.org/officeDocument/2006/relationships/notesSlide" Target="/ppt/notesSlides/notesSlide6.xml" Id="R1f2bbd6722b14c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e0a5bad4f644f4" /><Relationship Type="http://schemas.openxmlformats.org/officeDocument/2006/relationships/notesSlide" Target="/ppt/notesSlides/notesSlide7.xml" Id="R2abbc1d9e88b486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6d115650d4c85" /><Relationship Type="http://schemas.openxmlformats.org/officeDocument/2006/relationships/notesSlide" Target="/ppt/notesSlides/notesSlide8.xml" Id="R4213c8b7892b42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7D9E84-EA7D-46A3-BD29-7DC8FDB1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9B3C"/>
                </a:solidFill>
              </a:defRPr>
            </a:pPr>
            <a:r>
              <a:rPr sz="1125" b="1">
                <a:solidFill>
                  <a:srgbClr val="C89B3C"/>
                </a:solidFill>
              </a:rPr>
              <a:t>SUNPHONIX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EAAF88-5038-4D5C-AAC3-6B1626F1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7239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App Store向け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Wind &amp; Brass Tunerの開発手順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EEBEE1-9607-4992-878E-E6F2B715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1470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E2F2"/>
                </a:solidFill>
              </a:defRPr>
            </a:pPr>
            <a:r>
              <a:rPr sz="1800" b="0">
                <a:solidFill>
                  <a:srgbClr val="D9E2F2"/>
                </a:solidFill>
              </a:rPr>
              <a:t>移調楽器対応Webチューナーを、Sunphonix名義のiOSアプリ事業として展開するための準備・開発・審査ロードマップ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e08b1b1080496b"/>
          <a:stretch xmlns:a="http://schemas.openxmlformats.org/drawingml/2006/main"/>
        </p:blipFill>
        <p:spPr>
          <a:xfrm xmlns:a="http://schemas.openxmlformats.org/drawingml/2006/main">
            <a:off x="8572500" y="1219200"/>
            <a:ext cx="2381250" cy="23812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0D2ACE-F606-47A4-9EE7-D1AC43AF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E5B5"/>
                </a:solidFill>
              </a:defRPr>
            </a:pPr>
            <a:r>
              <a:rPr sz="1350" b="0">
                <a:solidFill>
                  <a:srgbClr val="F4E5B5"/>
                </a:solidFill>
              </a:rPr>
              <a:t>Prepared for discussion</a:t>
            </a:r>
          </a:p>
        </p:txBody>
      </p:sp>
    </p:spTree>
    <p:extLst>
      <p:ext uri="{BB962C8B-B14F-4D97-AF65-F5344CB8AC3E}">
        <p14:creationId xmlns:p14="http://schemas.microsoft.com/office/powerpoint/2010/main" val="19992521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8EEBFD-66FC-4F5E-9015-45D38946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9B3C"/>
                </a:solidFill>
              </a:defRPr>
            </a:pPr>
            <a:r>
              <a:rPr sz="1050" b="1">
                <a:solidFill>
                  <a:srgbClr val="C89B3C"/>
                </a:solidFill>
              </a:rPr>
              <a:t>SUNPHONIX / APP STORE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779434-46C7-4A90-BA0D-24057329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1427"/>
                </a:solidFill>
              </a:defRPr>
            </a:pPr>
            <a:r>
              <a:rPr sz="3000" b="1">
                <a:solidFill>
                  <a:srgbClr val="071427"/>
                </a:solidFill>
              </a:rPr>
              <a:t>結論: 可能性はあるが、Webサイト包装だけでは弱い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F8CF04-99A4-4168-B8D1-D8049DDB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</a:defRPr>
            </a:pPr>
            <a:r>
              <a:rPr sz="1575" b="0">
                <a:solidFill>
                  <a:srgbClr val="5B6472"/>
                </a:solidFill>
              </a:rPr>
              <a:t>App Storeでは、演奏者にとって明確な価値とiOSアプリとしての完成度が必要です。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05591-BD21-4C00-AA46-F428C3B1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BFFD3-AAEA-45AC-A7BA-C1FEBDCD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31432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209BA1-C748-4A98-A358-6CA05CE5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2686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C89B3C"/>
                </a:solidFill>
              </a:defRPr>
            </a:pPr>
            <a:r>
              <a:rPr sz="3300" b="1">
                <a:solidFill>
                  <a:srgbClr val="C89B3C"/>
                </a:solidFill>
              </a:rPr>
              <a:t>差別化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E31361-9F1B-45A1-8F4C-A867FADB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5285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Written Pitch と Concert Pitchを同時表示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084839-A88A-4DC8-A5CC-B9B2BC7E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57500"/>
            <a:ext cx="31432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A1F09E-AB29-491E-BC02-CB08A086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105150"/>
            <a:ext cx="2686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C89B3C"/>
                </a:solidFill>
              </a:defRPr>
            </a:pPr>
            <a:r>
              <a:rPr sz="3300" b="1">
                <a:solidFill>
                  <a:srgbClr val="C89B3C"/>
                </a:solidFill>
              </a:rPr>
              <a:t>実用性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3110CE-004D-4B14-AC5E-B2808241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75285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B♭ / E♭ / F管の調音導線に特化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0BC5B1-331C-4393-9490-A000E86F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31432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33CCEA-F692-419D-B752-EF0DD1A2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05150"/>
            <a:ext cx="2686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C89B3C"/>
                </a:solidFill>
              </a:defRPr>
            </a:pPr>
            <a:r>
              <a:rPr sz="3300" b="1">
                <a:solidFill>
                  <a:srgbClr val="C89B3C"/>
                </a:solidFill>
              </a:rPr>
              <a:t>要強化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7EAD20-DF52-4AA7-97E6-E83F5008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5285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WebViewだけに見えないiOS体験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1BF125-DE24-4382-8F55-8ABBF91E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76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427"/>
                </a:solidFill>
              </a:defRPr>
            </a:pPr>
            <a:r>
              <a:rPr sz="1650" b="1">
                <a:solidFill>
                  <a:srgbClr val="071427"/>
                </a:solidFill>
              </a:rPr>
              <a:t>最初の現実的ゴール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837DB0-616A-4CC6-8B78-779FAD92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578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まずTestFlight版を作り、管楽器奏者・講師の評価で有料化に足る価値を検証する。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D7F778-C406-4E85-9200-D02961A0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Wind &amp; Brass Tuner for App Store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6F5D1A-545B-4B2E-B242-0E1FAD9B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89B3C"/>
                </a:solidFill>
              </a:defRPr>
            </a:pPr>
            <a:r>
              <a:rPr sz="1350" b="1">
                <a:solidFill>
                  <a:srgbClr val="C89B3C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292600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F78523-0A80-414D-A429-6EBF6E08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9B3C"/>
                </a:solidFill>
              </a:defRPr>
            </a:pPr>
            <a:r>
              <a:rPr sz="1050" b="1">
                <a:solidFill>
                  <a:srgbClr val="C89B3C"/>
                </a:solidFill>
              </a:rPr>
              <a:t>SUNPHONIX / APP STORE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E7E6FD-6039-43F9-9C4F-BAC780C4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1427"/>
                </a:solidFill>
              </a:defRPr>
            </a:pPr>
            <a:r>
              <a:rPr sz="3000" b="1">
                <a:solidFill>
                  <a:srgbClr val="071427"/>
                </a:solidFill>
              </a:rPr>
              <a:t>Sunphonix名義で出す前に必要な準備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957ACC-D9FB-43A9-A2F0-449B4200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</a:defRPr>
            </a:pPr>
            <a:r>
              <a:rPr sz="1575" b="0">
                <a:solidFill>
                  <a:srgbClr val="5B6472"/>
                </a:solidFill>
              </a:rPr>
              <a:t>法人名義のApp Store公開には、技術準備と契約準備の両方が必要です。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35FA29-875E-420B-9E90-AB722924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72714-FBC7-4BB9-ACC4-51A420B0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953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F18033-3CB3-44FB-A02C-EE334DB0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4953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9E8"/>
          </a:solidFill>
          <a:ln xmlns:a="http://schemas.openxmlformats.org/drawingml/2006/main" w="9525">
            <a:solidFill>
              <a:srgbClr val="E9D18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B3FC1B-9536-4014-84F0-A88862E8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427"/>
                </a:solidFill>
              </a:defRPr>
            </a:pPr>
            <a:r>
              <a:rPr sz="1875" b="1">
                <a:solidFill>
                  <a:srgbClr val="071427"/>
                </a:solidFill>
              </a:rPr>
              <a:t>法人アカウント準備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060391-3664-4A1A-BC79-16A5E543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242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18C986-26D6-4920-B92C-877D90FE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3886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Apple Developer Program登録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28FD05-64BD-4D64-A40E-B06A5BD7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243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5EC024-94E0-4308-AEB5-9F565183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38600"/>
            <a:ext cx="3886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Sunphonix社のD-U-N-S Number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405E68-8092-4BA6-836C-5B57926B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243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853AB3-93FC-4600-8919-98CDA534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38650"/>
            <a:ext cx="3886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会社Webサイトと会社ドメインのメール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CE4AB9-BDEB-4B0A-AB0C-8B229900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244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7532E9-4B2B-49A0-BCD3-6C6D5A80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3886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契約権限を持つAccount Holder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0DFC38-765C-4BA1-A352-305C954D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051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427"/>
                </a:solidFill>
              </a:defRPr>
            </a:pPr>
            <a:r>
              <a:rPr sz="1875" b="1">
                <a:solidFill>
                  <a:srgbClr val="071427"/>
                </a:solidFill>
              </a:rPr>
              <a:t>有料販売の準備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3267D1-695F-4958-9171-CBAD387F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242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B002CE-C576-4077-BE77-5457EBE2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3886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Paid Apps Agreementへの同意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38FCF3-0573-430A-B5F4-E3A03C52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243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D1A970-C786-405E-B14F-4F9F9864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38600"/>
            <a:ext cx="3886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銀行口座・税務情報の登録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348BD4-AC72-4967-BAD4-32E37F81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243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B2E5A0-B93F-4A77-92A8-8459FCB6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38650"/>
            <a:ext cx="3886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プライバシーポリシーURL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39B83C-1B67-4817-9D32-CA5A7C51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244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3E572F-3123-46A0-A30D-B8CEAE00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838700"/>
            <a:ext cx="3886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サポートURLと問い合わせ窓口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0A4C65-EA1B-46C6-843B-49D39F57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Wind &amp; Brass Tuner for App Store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19A760-4386-4574-A305-6118FBC4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89B3C"/>
                </a:solidFill>
              </a:defRPr>
            </a:pPr>
            <a:r>
              <a:rPr sz="1350" b="1">
                <a:solidFill>
                  <a:srgbClr val="C89B3C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205285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8EBBB0-50F5-4789-AD49-61744844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9B3C"/>
                </a:solidFill>
              </a:defRPr>
            </a:pPr>
            <a:r>
              <a:rPr sz="1050" b="1">
                <a:solidFill>
                  <a:srgbClr val="C89B3C"/>
                </a:solidFill>
              </a:rPr>
              <a:t>SUNPHONIX / APP STORE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C88422-712A-4492-BB48-88F5BD5C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1427"/>
                </a:solidFill>
              </a:defRPr>
            </a:pPr>
            <a:r>
              <a:rPr sz="3000" b="1">
                <a:solidFill>
                  <a:srgbClr val="071427"/>
                </a:solidFill>
              </a:rPr>
              <a:t>開発にはMacとiPhone実機を前提にした体制が必要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121481-C0B2-43AD-BC9F-547E53A1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</a:defRPr>
            </a:pPr>
            <a:r>
              <a:rPr sz="1575" b="0">
                <a:solidFill>
                  <a:srgbClr val="5B6472"/>
                </a:solidFill>
              </a:rPr>
              <a:t>提出用ビルド、実機テスト、TestFlight運用はApple開発環境で進めます。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BF40B9-CAFB-46A9-A0E5-BE8EF746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236F8-C1AB-45C5-873F-454953A0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3333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B5E991-2EF3-4B93-8BBF-38E12576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19400"/>
            <a:ext cx="3333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1491D0-7A21-4818-ADEB-9215C0A6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19400"/>
            <a:ext cx="3333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E07532-B0DF-470E-BECC-BDAD25AA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427"/>
                </a:solidFill>
              </a:defRPr>
            </a:pPr>
            <a:r>
              <a:rPr sz="1950" b="1">
                <a:solidFill>
                  <a:srgbClr val="071427"/>
                </a:solidFill>
              </a:rPr>
              <a:t>開発機材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7C272B-B2A2-4AF6-975B-5FCA5D48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242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EECB45-77D6-43EF-B801-0A90A805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MacBook Air / Mac mini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18B7AA-ECB7-4652-93A0-5337B7B4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243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83C696-5E47-4449-B7E0-55C3881F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3860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Xcode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339FB0-70E0-4EE8-98B7-9F9D3AC4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243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EAECAF-A807-4BD8-8B2B-D456A3BF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3865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iPhone実機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119634-205B-4697-8442-2AEB649F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244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63930E-35B8-421B-9320-E454AEC5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必要ならiPad実機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8A7BB5-7312-462F-BD2E-4377D21C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105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427"/>
                </a:solidFill>
              </a:defRPr>
            </a:pPr>
            <a:r>
              <a:rPr sz="1950" b="1">
                <a:solidFill>
                  <a:srgbClr val="071427"/>
                </a:solidFill>
              </a:rPr>
              <a:t>アプリ実装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D5E3B5-3111-4B30-87CA-2528C75E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7242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DDE420-4107-47F2-BC58-6CD3116C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63855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Swift / SwiftUI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38D678-4C7F-4404-A3E7-D64F88C5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1243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82B8C7-D159-44A2-A543-6B65A390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03860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またはCapacitor等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0292BB-40EF-4F1F-ABFF-79E59576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5243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A4C681-634D-49ED-A0E8-55AE6EFD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43865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マイク許可文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94769B-32DA-422B-96BE-F023FF7A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9244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C1B1D2-2B31-4517-8D3E-F25D4BC9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83870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PWA資産の流用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775615-90D3-4A4C-8293-7BE5D00D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05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427"/>
                </a:solidFill>
              </a:defRPr>
            </a:pPr>
            <a:r>
              <a:rPr sz="1950" b="1">
                <a:solidFill>
                  <a:srgbClr val="071427"/>
                </a:solidFill>
              </a:rPr>
              <a:t>提出準備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139217-2922-431F-AE01-8FBBF240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242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8822E5-C1E5-4923-BD01-2ADE1353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3855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App Store Connect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05FA42-A23C-4964-814E-959E093E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243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7BE991-BD1C-4B01-B65C-37CC1389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3860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スクリーンショット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B28506-A518-4868-96AC-56CC8585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243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ECF485-1C2B-432F-B293-5817FFC0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43865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説明文・年齢レート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3ACB64-215E-437D-8855-0C56F76A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9244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A89386-4A09-45E4-9C0A-67FAA020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83870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TestFlight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3B142F-B0E2-4A2C-9FF3-46AC430C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Wind &amp; Brass Tuner for App Store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D42489-EC90-4C03-A65D-0FBB0C48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89B3C"/>
                </a:solidFill>
              </a:defRPr>
            </a:pPr>
            <a:r>
              <a:rPr sz="1350" b="1">
                <a:solidFill>
                  <a:srgbClr val="C89B3C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968783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7DBA7C-4C1E-402B-9260-0ADC5C27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9B3C"/>
                </a:solidFill>
              </a:defRPr>
            </a:pPr>
            <a:r>
              <a:rPr sz="1050" b="1">
                <a:solidFill>
                  <a:srgbClr val="C89B3C"/>
                </a:solidFill>
              </a:rPr>
              <a:t>SUNPHONIX / APP STORE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B60D49-8D22-449E-A6CE-A8D14B70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1427"/>
                </a:solidFill>
              </a:defRPr>
            </a:pPr>
            <a:r>
              <a:rPr sz="3000" b="1">
                <a:solidFill>
                  <a:srgbClr val="071427"/>
                </a:solidFill>
              </a:rPr>
              <a:t>開発ロードマップはWeb版検証からTestFlightへ進める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BE17BF-44D5-4745-8246-32D00324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</a:defRPr>
            </a:pPr>
            <a:r>
              <a:rPr sz="1575" b="0">
                <a:solidFill>
                  <a:srgbClr val="5B6472"/>
                </a:solidFill>
              </a:rPr>
              <a:t>いきなり有料公開ではなく、演奏者評価を使って価値を固めます。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2A4ED3-59F2-49ED-A015-D63FEA79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DFA679-87E7-4858-8C32-7D74146F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62E993-3CBD-40B1-863D-D5A8FA9A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028923-2336-46A7-938C-2B74963D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003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427"/>
                </a:solidFill>
              </a:defRPr>
            </a:pPr>
            <a:r>
              <a:rPr sz="1800" b="1">
                <a:solidFill>
                  <a:srgbClr val="071427"/>
                </a:solidFill>
              </a:rPr>
              <a:t>Web版の実奏テスト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543B49-B1E1-418B-830B-67F833C4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43250"/>
            <a:ext cx="4267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B♭ / E♭ / F管奏者で検出精度、UI、Reference Toneを確認する。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BD5501-E1B8-4906-868A-77E134FB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19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74AF3C-E988-43DC-96C8-4EDF68F0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051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480F6E-0824-4B89-A078-98181C43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003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427"/>
                </a:solidFill>
              </a:defRPr>
            </a:pPr>
            <a:r>
              <a:rPr sz="1800" b="1">
                <a:solidFill>
                  <a:srgbClr val="071427"/>
                </a:solidFill>
              </a:rPr>
              <a:t>Pro版の価値設計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A92127-EC8F-4E07-8894-482E6A56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4267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有料にする理由を定義。履歴、練習モード、楽器プリセットなどを検討する。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9D7176-E28C-4B23-A64B-FC46F8C1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FF9A0A-F25E-4885-B250-6B29C18C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E5C9CF-868F-4909-B549-56F04543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100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427"/>
                </a:solidFill>
              </a:defRPr>
            </a:pPr>
            <a:r>
              <a:rPr sz="1800" b="1">
                <a:solidFill>
                  <a:srgbClr val="071427"/>
                </a:solidFill>
              </a:rPr>
              <a:t>iOS MVP開発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BC99BB-1B70-4AFA-8DEB-7D58242F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52950"/>
            <a:ext cx="4267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マイク、音程検出、Reference Tone、PWA資産をiOSアプリとして統合する。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FB134A-4BFD-4395-BAA2-F482972A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29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64A11A-A5BA-4652-A816-C2B88363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48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156399-55FE-46FF-9602-DE47F07A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100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427"/>
                </a:solidFill>
              </a:defRPr>
            </a:pPr>
            <a:r>
              <a:rPr sz="1800" b="1">
                <a:solidFill>
                  <a:srgbClr val="071427"/>
                </a:solidFill>
              </a:rPr>
              <a:t>TestFlight検証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C9AD78-96E4-4848-A9A2-703EB296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52950"/>
            <a:ext cx="4267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演奏者・講師に配布し、価格、機能、審査前の品質を確認する。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C41F20-A7CE-48CC-816A-96D629DC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Wind &amp; Brass Tuner for App Store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399A36-E1F8-48D1-B505-B6439584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89B3C"/>
                </a:solidFill>
              </a:defRPr>
            </a:pPr>
            <a:r>
              <a:rPr sz="1350" b="1">
                <a:solidFill>
                  <a:srgbClr val="C89B3C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294787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B35F76-EC4D-4830-B369-1BE39D38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9B3C"/>
                </a:solidFill>
              </a:defRPr>
            </a:pPr>
            <a:r>
              <a:rPr sz="1050" b="1">
                <a:solidFill>
                  <a:srgbClr val="C89B3C"/>
                </a:solidFill>
              </a:rPr>
              <a:t>SUNPHONIX / APP STORE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F0C67-C8C9-4158-AB73-BFC93D21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1427"/>
                </a:solidFill>
              </a:defRPr>
            </a:pPr>
            <a:r>
              <a:rPr sz="3000" b="1">
                <a:solidFill>
                  <a:srgbClr val="071427"/>
                </a:solidFill>
              </a:rPr>
              <a:t>審査で見られるのは、機能よりも“アプリとしての完成度”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7812A9-1471-4303-847D-E515FCBB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</a:defRPr>
            </a:pPr>
            <a:r>
              <a:rPr sz="1575" b="0">
                <a:solidFill>
                  <a:srgbClr val="5B6472"/>
                </a:solidFill>
              </a:rPr>
              <a:t>単なるWebViewではなく、iOS向けの体験・説明・安全性を整える必要があります。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F144C-BB46-4A71-91C6-7BB67A5E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A226B2-C247-4920-A4ED-AFA1C999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2952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514339-9C76-415D-9370-80DE52AC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76550"/>
            <a:ext cx="7467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6BD569-3C68-4491-9538-8AD9E531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427"/>
                </a:solidFill>
              </a:defRPr>
            </a:pPr>
            <a:r>
              <a:rPr sz="1350" b="1">
                <a:solidFill>
                  <a:srgbClr val="071427"/>
                </a:solidFill>
              </a:rPr>
              <a:t>WebViewに見えないこと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0AC4DD-7171-4993-9B35-263B51B3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0099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ネイティブ設定画面、安定した起動、オフライン時の案内を用意する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E0C4DC-F876-4851-934F-E9F1D0BE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2952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C75884-ECBC-4A9F-A291-B7DA3CA7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24250"/>
            <a:ext cx="7467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2E99E6-08B6-4801-B73B-D9B1FA89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76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427"/>
                </a:solidFill>
              </a:defRPr>
            </a:pPr>
            <a:r>
              <a:rPr sz="1350" b="1">
                <a:solidFill>
                  <a:srgbClr val="071427"/>
                </a:solidFill>
              </a:rPr>
              <a:t>マイク利用の透明性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C3C7DE-62E1-48D3-BD34-FB42AA9A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6576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使用目的を明記し、音声を保存・送信しない設計を説明する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807408-918F-4FD5-AB5E-35803150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71950"/>
            <a:ext cx="2952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985C69-A452-4C4E-A678-CF282033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71950"/>
            <a:ext cx="7467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5172FF-6C61-46E6-8118-7D524D63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24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427"/>
                </a:solidFill>
              </a:defRPr>
            </a:pPr>
            <a:r>
              <a:rPr sz="1350" b="1">
                <a:solidFill>
                  <a:srgbClr val="071427"/>
                </a:solidFill>
              </a:rPr>
              <a:t>有料価値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691684-20D0-4D99-8240-3036B200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3053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無料Web版との差別化機能を明確にする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610D96-9DED-47B6-BC54-A16E3D8D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2952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743DB2-0D7F-4DE0-9A93-56CEAFD9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19650"/>
            <a:ext cx="7467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62B4B8-29BE-4EEC-9259-CDDF554C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72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427"/>
                </a:solidFill>
              </a:defRPr>
            </a:pPr>
            <a:r>
              <a:rPr sz="1350" b="1">
                <a:solidFill>
                  <a:srgbClr val="071427"/>
                </a:solidFill>
              </a:rPr>
              <a:t>品質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E35A69-EFC4-48FE-B8A3-70A35476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9530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iPhone実機で音程検出・画面崩れ・音声出力を検証する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DDC63A-E767-4F42-BB98-EA9F6E91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959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427"/>
                </a:solidFill>
              </a:defRPr>
            </a:pPr>
            <a:r>
              <a:rPr sz="1650" b="1">
                <a:solidFill>
                  <a:srgbClr val="071427"/>
                </a:solidFill>
              </a:rPr>
              <a:t>審査の中心は「演奏者に十分な価値がある独立アプリか」です。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EF8A82-88FD-4C36-A486-4294081C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Wind &amp; Brass Tuner for App Store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23041C-D373-4995-B00A-233E20B9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89B3C"/>
                </a:solidFill>
              </a:defRPr>
            </a:pPr>
            <a:r>
              <a:rPr sz="1350" b="1">
                <a:solidFill>
                  <a:srgbClr val="C89B3C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264708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CBFC2E-569A-4D26-B10D-77D1223B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9B3C"/>
                </a:solidFill>
              </a:defRPr>
            </a:pPr>
            <a:r>
              <a:rPr sz="1050" b="1">
                <a:solidFill>
                  <a:srgbClr val="C89B3C"/>
                </a:solidFill>
              </a:rPr>
              <a:t>SUNPHONIX / APP STORE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88202B-A704-4E81-B448-153D472E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1427"/>
                </a:solidFill>
              </a:defRPr>
            </a:pPr>
            <a:r>
              <a:rPr sz="3000" b="1">
                <a:solidFill>
                  <a:srgbClr val="071427"/>
                </a:solidFill>
              </a:rPr>
              <a:t>有料化は“低価格買い切り”か“無料＋Pro機能”で検討する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4F4AB8-C27D-4D88-B3DE-C567EB58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</a:defRPr>
            </a:pPr>
            <a:r>
              <a:rPr sz="1575" b="0">
                <a:solidFill>
                  <a:srgbClr val="5B6472"/>
                </a:solidFill>
              </a:rPr>
              <a:t>最初の価格戦略は、テスター評価と継続改善コストで決めます。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00DBA6-6235-4C64-9CEB-F2A4811E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DEB57A-9DA0-4BC7-9863-3C01C205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514350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E83D9E-6E02-4489-A36E-F749A94C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514350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9E8"/>
          </a:solidFill>
          <a:ln xmlns:a="http://schemas.openxmlformats.org/drawingml/2006/main" w="9525">
            <a:solidFill>
              <a:srgbClr val="E9D18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F574E9-D585-4DFD-B832-2E025DDE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71427"/>
                </a:solidFill>
              </a:defRPr>
            </a:pPr>
            <a:r>
              <a:rPr sz="2175" b="1">
                <a:solidFill>
                  <a:srgbClr val="071427"/>
                </a:solidFill>
              </a:rPr>
              <a:t>買い切り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207B3C-0925-4349-8F12-7B1B2A74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814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C0108F-3371-444B-8292-2F0F50CC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95700"/>
            <a:ext cx="3790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導入がわかりやすい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93DFB4-63B1-48A8-B2DB-57D20B82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195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348894-6D69-4B23-A474-18A632A7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33850"/>
            <a:ext cx="3790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教育現場・個人練習に説明しやすい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D8C5BF-D0A1-46F1-ABCB-7DAC73D5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57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4946C9-FFEA-4BC1-902E-9A58BF2D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72000"/>
            <a:ext cx="3790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継続収益は弱い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1FA34C-E8F8-44FB-BCDD-B706A584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861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71427"/>
                </a:solidFill>
              </a:defRPr>
            </a:pPr>
            <a:r>
              <a:rPr sz="2175" b="1">
                <a:solidFill>
                  <a:srgbClr val="071427"/>
                </a:solidFill>
              </a:rPr>
              <a:t>無料＋Pro機能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EB0FFE-EA94-4C76-AE3A-B0F2216B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814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EBBD9F-9E5B-49BE-8752-943A97B6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95700"/>
            <a:ext cx="3790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まず試してもらいやすい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1205DB-B316-442F-BAC2-B24ADC24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195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E90C2C-D497-4DBF-B36E-8CF56B89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33850"/>
            <a:ext cx="3790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高度機能だけ有料化できる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1971F9-1AD6-4BD6-BCB1-0216D3B9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657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316C90-419F-4418-A6F3-C868857D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572000"/>
            <a:ext cx="3790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機能境界の設計が重要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3C84EF-7B0F-4653-9074-CD78F15C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Wind &amp; Brass Tuner for App Store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F7D901-44EF-4AC1-8E2B-62657508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89B3C"/>
                </a:solidFill>
              </a:defRPr>
            </a:pPr>
            <a:r>
              <a:rPr sz="1350" b="1">
                <a:solidFill>
                  <a:srgbClr val="C89B3C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857387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2C33DD-B19F-4552-9611-12A13293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推奨する次アクション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9FCEF4-2E90-4B2E-B224-27D56831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7160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F2"/>
                </a:solidFill>
              </a:defRPr>
            </a:pPr>
            <a:r>
              <a:rPr sz="1875" b="0">
                <a:solidFill>
                  <a:srgbClr val="D9E2F2"/>
                </a:solidFill>
              </a:rPr>
              <a:t>Sunphonix名義でApp Storeを目指すなら、まずTestFlight版を作る判断材料を集める。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81F31-977B-4E61-9A6A-0A7E1F15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10096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BF8F51-C9DE-406B-8C2D-89862CDF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384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CD93A7-051D-4ACC-92C1-1DFA21D0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52750"/>
            <a:ext cx="8553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Web版テスターを5〜10名集め、楽器別の実奏フィードバックを取る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52BC71-1580-4BDB-883C-E64CF5A9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95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7B200A-83F3-4E3F-A73B-1AF8CD4E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09950"/>
            <a:ext cx="8553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有料版に必要な追加機能を3つ以内に絞る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8CC828-6572-4907-A1CD-D88F0DBD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528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6624EE-D625-43E4-85C1-4F1361AD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67150"/>
            <a:ext cx="8553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Apple Developer Programを法人名義で準備する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C15852-0454-4E4B-BEBB-DE57B352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10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FB6375-D753-4612-96C1-F68554AC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24350"/>
            <a:ext cx="8553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iOS MVPの実装方式をSwiftUIまたはCapacitorで比較する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286B2E-A638-4288-B5DA-4BC67B2E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E5B5"/>
                </a:solidFill>
              </a:defRPr>
            </a:pPr>
            <a:r>
              <a:rPr sz="1200" b="0">
                <a:solidFill>
                  <a:srgbClr val="F4E5B5"/>
                </a:solidFill>
              </a:rPr>
              <a:t>参考: Apple Developer Program / App Store Review Guidelines / App Store Connect Help</a:t>
            </a:r>
          </a:p>
        </p:txBody>
      </p:sp>
    </p:spTree>
    <p:extLst>
      <p:ext uri="{BB962C8B-B14F-4D97-AF65-F5344CB8AC3E}">
        <p14:creationId xmlns:p14="http://schemas.microsoft.com/office/powerpoint/2010/main" val="6465463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2026-07-04T10:44:28.3950000Z</dcterms:created>
  <dcterms:modified xsi:type="dcterms:W3CDTF">2026-07-04T10:44:28.3950000Z</dcterms:modified>
</coreProperties>
</file>